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开场：大家好，我是初一新生。今天分享的主题是“我的生活疆域”。我想讲一次不太一样的开疆之旅——去东山弄菜场。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先给同学看路线：今天不只是“我去逛了个菜场”，而是一次有地图、有尝试、有感受的开疆。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以前觉得疆域是历史书里的词。现在明白：它是我敢去、会看、能感受的地方。小学地图很窄，初一我想画大一圈。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坐标：西湖区灵隐街道外东山弄86号。现在叫西湖·东山集。离西湖很近，却专门藏着烟火气。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为什么不去西湖、不去博物馆？因为真正的城市生活藏在买菜的人声里。菜场是大人的世界，也是近处的远方。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创新方法：不写流水账，画三张地图——地理、感官、人情。空间打开、感觉打开、心里打开。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三个任务：问路、看价、开口。问西湖鱼时摊主说像开盲盒。新空间里的第一次尝试，本身就像开盲盒。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五感：眼看青绿与活鱼，耳听杭州话，鼻闻热油和咖啡，舌尝生煎和葱包桧儿，心觉得烟火气也可以温柔。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人情比菜更鲜。摊主认识老客，华阿姨教烧鱼。我第一次被当成会买菜的人。疆域是用眼睛看、用嘴巴问、用心记住的。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镜像：菜场从农贸市场变成一菜一早、邻里共生，甚至有大厨和诗歌展。菜场在扩疆，我也在扩疆。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收获：地理多一个坐标，能力上敢问敢试，理解上知道城市是人间。下一站还要把地图画大。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收束金句：疆域不在远方，在我迈出的第一步。谢谢老师，谢谢同学。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unt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0520"/>
            <a:ext cx="12191695" cy="2697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初一年级主题演讲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我的生活疆域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在东山弄，把生活画大一圈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1234440" cy="45720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一个初一新生的开疆记  ·  新空间 · 新尝试 · 新感受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杭州市西湖区灵隐街道外东山弄86号   |   演讲人：________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OPENING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今天的开疆路线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六步走完：从“什么是疆域”，走到“我把地图画大了一圈”。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78308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84831"/>
            <a:ext cx="640080" cy="640080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94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8036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问疆域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383280"/>
            <a:ext cx="157276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先想清楚
生活版图是什么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3703320"/>
            <a:ext cx="155448" cy="32004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0008" y="1828800"/>
            <a:ext cx="178308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16936" y="2084831"/>
            <a:ext cx="640080" cy="640080"/>
          </a:xfrm>
          <a:prstGeom prst="ellipse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2194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88036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选坐标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3383280"/>
            <a:ext cx="157276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为什么不去景区
偏偏去菜场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8" y="3703320"/>
            <a:ext cx="155448" cy="32004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88536" y="1828800"/>
            <a:ext cx="178308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084831"/>
            <a:ext cx="640080" cy="640080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2194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88036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敢尝试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3383280"/>
            <a:ext cx="157276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自己问路看价
开口问摊主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1616" y="3703320"/>
            <a:ext cx="155448" cy="32004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27064" y="1828800"/>
            <a:ext cx="178308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93992" y="2084831"/>
            <a:ext cx="640080" cy="640080"/>
          </a:xfrm>
          <a:prstGeom prst="ellipse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2194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288036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用五感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383280"/>
            <a:ext cx="157276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眼耳鼻舌心
重新认识杭州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0144" y="3703320"/>
            <a:ext cx="155448" cy="32004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65592" y="1828800"/>
            <a:ext cx="178308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32520" y="2084831"/>
            <a:ext cx="640080" cy="640080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194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88036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识人情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383280"/>
            <a:ext cx="157276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烟火气里
遇见一座城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48672" y="3703320"/>
            <a:ext cx="155448" cy="32004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04120" y="1828800"/>
            <a:ext cx="178308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71048" y="2084831"/>
            <a:ext cx="640080" cy="640080"/>
          </a:xfrm>
          <a:prstGeom prst="ellipse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71048" y="2194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880360"/>
            <a:ext cx="1783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画新图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3848" y="3383280"/>
            <a:ext cx="157276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菜场在长大
我也在长大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THINK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疆域，不只是远方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对初一的我来说，疆域不是国土，是我愿意伸手去碰的世界。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1B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小学的生活地图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又窄又安全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17520"/>
            <a:ext cx="164592" cy="164592"/>
          </a:xfrm>
          <a:prstGeom prst="ellipse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4436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73552"/>
            <a:ext cx="4389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每天出发的原点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86200"/>
            <a:ext cx="164592" cy="164592"/>
          </a:xfrm>
          <a:prstGeom prst="ellipse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1304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学校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42232"/>
            <a:ext cx="4389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最熟悉的半径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754880"/>
            <a:ext cx="164592" cy="164592"/>
          </a:xfrm>
          <a:prstGeom prst="ellipse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8172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小区小店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010912"/>
            <a:ext cx="4389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偶尔的一点点远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1938528"/>
            <a:ext cx="603504" cy="603504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48256"/>
            <a:ext cx="60350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84708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敢去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30428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新空间：我愿意走进去的地方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632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3447288"/>
            <a:ext cx="603504" cy="603504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557016"/>
            <a:ext cx="60350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35584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会看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81304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新观察：风景之外的烟火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720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4956048"/>
            <a:ext cx="603504" cy="603504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065776"/>
            <a:ext cx="603504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86460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能感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32180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新感受：心里多出来的一圈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PLACE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我的新坐标：东山弄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西湖看风景，东山看烟火。离湖不到一千米，却是另一座杭州。</a:t>
            </a:r>
          </a:p>
        </p:txBody>
      </p:sp>
      <p:pic>
        <p:nvPicPr>
          <p:cNvPr id="6" name="Picture 5" descr="ic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1664208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杭州市西湖区灵隐街道外东山弄 86 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577840" cy="17190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09728" cy="1719072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不足千米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距西湖直线距离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步行大约 5 到 10 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577840" cy="17190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77440"/>
            <a:ext cx="109728" cy="1719072"/>
          </a:xfrm>
          <a:prstGeom prst="rect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33472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二十多年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27248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附近居民的菜篮子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747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辐射小区、高校数十万人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59"/>
            <a:ext cx="5577840" cy="17190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59"/>
            <a:ext cx="109728" cy="1719072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1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东山集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01767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菜场的新名字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39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从农贸市场长成邻里空间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51959"/>
            <a:ext cx="5577840" cy="17190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251959"/>
            <a:ext cx="109728" cy="1719072"/>
          </a:xfrm>
          <a:prstGeom prst="rect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507991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一菜一早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01767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这里的生活哲学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49239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买菜，也把早饭吃得像样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WHY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别人去景区，我去菜场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真正的城市生活，不在明信片上，而在买菜的人声里。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反差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0632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景区是被安排好的美
菜场是还在呼吸的生活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30632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我想看看风景背后的杭州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1B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成人礼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0632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第一次自己走进
大人的世界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30632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问路、看价、开口，都是新尝试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74519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近处的远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0632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离家不远
离旧自己却很远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023360"/>
            <a:ext cx="30632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疆域不一定靠千里，靠勇气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FRAME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一张地图，三种画法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这是我给这次出行发明的方法：不记流水账，而画三张会呼吸的地图。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6517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地理疆域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空间被打开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C3E3A"/>
                </a:solidFill>
                <a:latin typeface="Microsoft YaHei"/>
                <a:ea typeface="微软雅黑"/>
                <a:cs typeface="Microsoft YaHei"/>
              </a:rPr>
              <a:t>家—学校之外，多了一个坐标。一条弄堂，一座市集，离湖很近的人间。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657600" cy="109728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0240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0" y="26517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感官疆域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8A38"/>
                </a:solidFill>
                <a:latin typeface="Microsoft YaHei"/>
                <a:ea typeface="微软雅黑"/>
                <a:cs typeface="Microsoft YaHei"/>
              </a:rPr>
              <a:t>感觉被打开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C3E3A"/>
                </a:solidFill>
                <a:latin typeface="Microsoft YaHei"/>
                <a:ea typeface="微软雅黑"/>
                <a:cs typeface="Microsoft YaHei"/>
              </a:rPr>
              <a:t>用眼耳鼻舌心重新认识杭州：宋韵青绿，热油香，西湖鱼，生煎的脆底。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0020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3657600" cy="109728"/>
          </a:xfrm>
          <a:prstGeom prst="rect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20240"/>
            <a:ext cx="566928" cy="566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0" y="26517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人情疆域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25B3C"/>
                </a:solidFill>
                <a:latin typeface="Microsoft YaHei"/>
                <a:ea typeface="微软雅黑"/>
                <a:cs typeface="Microsoft YaHei"/>
              </a:rPr>
              <a:t>心里被打开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5760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C3E3A"/>
                </a:solidFill>
                <a:latin typeface="Microsoft YaHei"/>
                <a:ea typeface="微软雅黑"/>
                <a:cs typeface="Microsoft YaHei"/>
              </a:rPr>
              <a:t>摊主叫得出老客名字。我第一次被当成“会买菜的人”。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TRY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新空间里的三次出手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紧张得手心出汗，也要把手伸出去。新尝试，本身就像开盲盒。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7452360" cy="13533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01952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755648"/>
            <a:ext cx="6126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01   自己问路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61264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第一次不用跟着大人走。弄堂、入口、摊区，都要自己认。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7452360" cy="13533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price_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64992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3218688"/>
            <a:ext cx="6126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02   自己看价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57600"/>
            <a:ext cx="61264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菜不是货架上的包装，是有季节、有产地、有故事的活物。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7452360" cy="13533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fish_wa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828032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681728"/>
            <a:ext cx="6126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03   自己开口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120640"/>
            <a:ext cx="61264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问：“阿姨，这鱼是西湖里的吗？”摊主说：凌晨现捞，捞到什么卖什么。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5448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1B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82880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关键隐喻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9456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西湖鱼
像开盲盒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108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全杭州几乎只有这里能买到正宗西湖鱼。凌晨现捞，白条、鲫鱼、步鱼，来什么卖什么。生活也是这样：你得先伸手，才会有惊喜。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SENSE  ·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五感开疆记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我把东山弄当成一座不用门票的博物馆，一件一件收藏。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554480"/>
            <a:ext cx="2240280" cy="44805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783080"/>
            <a:ext cx="804672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" y="2697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青绿撞上红鳞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840480"/>
            <a:ext cx="193852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宋韵装修取自《千里江山图》，和活鱼青菜挤在一起，又雅又热闹。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6624" y="1554480"/>
            <a:ext cx="2240280" cy="44805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1783080"/>
            <a:ext cx="804672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06624" y="2697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31089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杭州话在流动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840480"/>
            <a:ext cx="193852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刀声、电子秤、有人喊：明虾很新鲜，给孙子带点回去！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1554480"/>
            <a:ext cx="2240280" cy="44805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n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783080"/>
            <a:ext cx="804672" cy="8046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65776" y="2697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1089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热油遇见咖啡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40480"/>
            <a:ext cx="193852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葱姜、油墩儿，还有咖啡香。原来菜场也能边逛边喝一杯。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4928" y="1554480"/>
            <a:ext cx="2240280" cy="44805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tong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83080"/>
            <a:ext cx="804672" cy="8046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4928" y="2697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1089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一菜一早的幸福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3840480"/>
            <a:ext cx="193852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1.5元牛肉生煎底脆汁多，葱包桧儿、油墩儿，都是杭州的味道。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554480"/>
            <a:ext cx="2240280" cy="44805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he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1783080"/>
            <a:ext cx="804672" cy="8046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84080" y="2697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31089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烟火也可以温柔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3840480"/>
            <a:ext cx="193852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不是吵闹，是踏实。我第一次觉得：人间很近。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PEOPLE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人情，比菜更鲜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地理地图好画，人情地图要用心记。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36192"/>
            <a:ext cx="11247120" cy="140817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0784"/>
            <a:ext cx="10607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摊主王大姐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“老李，明虾很新鲜，要不要给孙子带点回去？”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10607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她叫得出老顾客的名字，连谁家添了孩子都知道。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72384"/>
            <a:ext cx="11247120" cy="140817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6"/>
            <a:ext cx="10607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买鱼的华阿姨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9584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“西湖步鱼配春笋雪菜炖汤，鲜掉眉毛。”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86784"/>
            <a:ext cx="10607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我站在旁边听，像偷师一门只有杭州人才懂的功课。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08576"/>
            <a:ext cx="11247120" cy="1408176"/>
          </a:xfrm>
          <a:prstGeom prst="roundRect">
            <a:avLst>
              <a:gd name="adj" fmla="val 8000"/>
            </a:avLst>
          </a:prstGeom>
          <a:solidFill>
            <a:srgbClr val="1B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73168"/>
            <a:ext cx="10607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初一的我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65776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“阿姨，这鱼是西湖里的吗？”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22976"/>
            <a:ext cx="10607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第一次被当成会买菜的人，而不是跟着走的小孩。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MIRROR  ·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菜场在长大，我也在长大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最巧的发现：东山弄自己也在拓宽疆域。我和它，好像在做同一件事。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31720"/>
            <a:ext cx="10149840" cy="41148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176272"/>
            <a:ext cx="347472" cy="347472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过去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传统农贸市场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买菜、称重、回家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2176272"/>
            <a:ext cx="347472" cy="347472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一菜一早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4290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小吃、早餐、西湖鱼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2176272"/>
            <a:ext cx="347472" cy="347472"/>
          </a:xfrm>
          <a:prstGeom prst="ellipse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邻里共生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咖啡、便民、诗歌展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0" y="2176272"/>
            <a:ext cx="347472" cy="347472"/>
          </a:xfrm>
          <a:prstGeom prst="ellipse">
            <a:avLst/>
          </a:prstGeom>
          <a:solidFill>
            <a:srgbClr val="C2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651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C25B3C"/>
                </a:solidFill>
                <a:latin typeface="Microsoft YaHei"/>
                <a:ea typeface="微软雅黑"/>
                <a:cs typeface="Microsoft YaHei"/>
              </a:rPr>
              <a:t>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718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初一的我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4290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敢问、敢试、敢观察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11247120" cy="1737360"/>
          </a:xfrm>
          <a:prstGeom prst="roundRect">
            <a:avLst>
              <a:gd name="adj" fmla="val 8000"/>
            </a:avLst>
          </a:prstGeom>
          <a:solidFill>
            <a:srgbClr val="1B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10515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黑珍珠餐厅的大厨来开小吃店，好味道变得人人吃得起；诗歌展办到菜场里，烟火气撞上文学。一座老菜场把世界变大，一个初一新生也把世界变大。我们都让自己的疆域，更大一点，也更有温度一点。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GROW  ·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走出来，版图大了一圈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地理上多了一条弄堂，能力上多了勇气，理解上多了一座人间。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01 地理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多一个坐标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家和学校之外，东山弄成了我认识杭州的新入口。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1051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02 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7627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敢问敢试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974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问路、看价、开口。紧张可以有，退缩不可以。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5079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03 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城是人间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城市不只是风景，更是摊主、阿姨、热气和招呼。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94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E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5079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A6E5C"/>
                </a:solidFill>
                <a:latin typeface="Microsoft YaHei"/>
                <a:ea typeface="微软雅黑"/>
                <a:cs typeface="Microsoft YaHei"/>
              </a:rPr>
              <a:t>04 下一站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1655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42824"/>
                </a:solidFill>
                <a:latin typeface="Microsoft YaHei"/>
                <a:ea typeface="微软雅黑"/>
                <a:cs typeface="Microsoft YaHei"/>
              </a:rPr>
              <a:t>继续画大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B6C66"/>
                </a:solidFill>
                <a:latin typeface="Microsoft YaHei"/>
                <a:ea typeface="微软雅黑"/>
                <a:cs typeface="Microsoft YaHei"/>
              </a:rPr>
              <a:t>下一次，我还想走进更新的空间，做更新的尝试。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我的生活疆域  ·  杭州市西湖区东山弄菜场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8A9A94"/>
                </a:solidFill>
                <a:latin typeface="Microsoft YaHei"/>
                <a:ea typeface="微软雅黑"/>
                <a:cs typeface="Microsoft YaHe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unt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7680"/>
            <a:ext cx="12191695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微软雅黑"/>
                <a:cs typeface="Microsoft YaHei"/>
              </a:rPr>
              <a:t>疆域不在远方，
在我迈出的第一步。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1234440" cy="45720"/>
          </a:xfrm>
          <a:prstGeom prst="rect">
            <a:avLst/>
          </a:prstGeom>
          <a:solidFill>
            <a:srgbClr val="C48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D8EBE3"/>
                </a:solidFill>
                <a:latin typeface="Microsoft YaHei"/>
                <a:ea typeface="微软雅黑"/>
                <a:cs typeface="Microsoft YaHei"/>
              </a:rPr>
              <a:t>走进新的空间，做新的尝试，就会有特别的感受。
谢谢老师，谢谢同学。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E0C07A"/>
                </a:solidFill>
                <a:latin typeface="Microsoft YaHei"/>
                <a:ea typeface="微软雅黑"/>
                <a:cs typeface="Microsoft YaHei"/>
              </a:rPr>
              <a:t>我的生活疆域  ·  东山弄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